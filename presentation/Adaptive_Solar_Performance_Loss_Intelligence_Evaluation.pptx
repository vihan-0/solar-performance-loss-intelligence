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2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ACADEMIC EVALUATION ROUND II • MINI-PROJECT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Adaptive Solar Performance</a:t>
            </a:r>
            <a:br/>
            <a:r>
              <a:t>&amp; Loss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8BDF8"/>
                </a:solidFill>
                <a:latin typeface="Segoe UI"/>
              </a:defRPr>
            </a:pPr>
            <a:r>
              <a:t>Inverter-Level Baselining, Peer-Cohort Benchmarking, and Operational Shortfall Quantification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23360"/>
            <a:ext cx="3246120" cy="164592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PHASE I • IMPLEMENTED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Commercial Fleet Intelligence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44 Inverters, 77k daylight records, 10-feature Random Forest baseline, dual-baseline detection &amp; persistence filtering.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4023360"/>
            <a:ext cx="3246120" cy="164592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416052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PHASE II • IMPLEMENTED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Residential Solar Intelligence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Real Havells 5.0 kW single-phase export, dynamic PII sanitization, standby gap analysis, and 3-way energy reconciliation.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023360"/>
            <a:ext cx="3246120" cy="164592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416052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III • PLANNED ROADMAP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Forecasting &amp; Live Inverters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NWP day-ahead solar forecasting, localized cloud modeling, and authorized Modbus/Cloud live inverter ingestion.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Department of Computer Science &amp; Engineering • Academic Project Defense • 46 Automated Unit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THE OPERATIONAL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Falling Solar Power Does Not Imply a Fault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THE PROBLEM IN SOLAR TELEMETRY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Solar power generation fluctuates continuously with sun position and passing cloud cover. A drop in power is frequently normal meteorological behavior, NOT an equipment failure.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TWO CRITICAL INDUSTRY PITFALLS: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1. The False Alarm Trap (Passing Clouds):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Static SCADA thresholds (e.g., P &lt; 0.2 kW) trigger hundreds of nuisance alerts daily during cloud shadows. In our test data, 47.6 kWh of deviation was transient cloud noise.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2. The Invisible Degrade (Masked Underperformance):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 string disconnect, severe soiling, or inverter derating (-30%) still produces 1.0 kW on sunny days. Static thresholds completely miss this, allowing thousands of kWh to be silently lost.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OUR ENGINEERING SOLUTION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Adaptive Solar Intelligence bridges physical meteorology and machine learning to answer four fundamental operator questions:</a:t>
            </a:r>
          </a:p>
          <a:p>
            <a:br/>
            <a:pPr>
              <a:defRPr sz="1200" b="1">
                <a:solidFill>
                  <a:srgbClr val="38BDF8"/>
                </a:solidFill>
              </a:defRPr>
            </a:pPr>
            <a:r>
              <a:t>1. What SHOULD this inverter generate right now?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Model-predicted active power baseline conditioned on pyranometer irradiance, module temperature, and solar geometry.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2. How does it compare to its immediate neighbors?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Capacity-normalized peer cohort benchmark prevents the ML model from normalizing chronic long-term derating as baseline.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3. Has the underperformance persisted over time?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Strict temporal persistence filter (&gt;= 45 min) suppresses short cloud transients while catching sustained faults.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4. What is the cumulative energy lost (kWh)?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Quantifies potential shortfall in kilowatt-hours and ranks inverters by urgency to prioritize maintenance dispatch.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End-to-End Solar Intelligence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645920" cy="438912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463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1. INGESTION &amp; UNITS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Raw SCADA Data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Plants 1 &amp; 2 (4 CSVs)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Unit Resolution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Watts to canonical kW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Weather Archive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Open-Meteo ERA5 15m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Join Invariants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Assert zero row mult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1463040"/>
            <a:ext cx="1645920" cy="438912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4328" y="1600200"/>
            <a:ext cx="1463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2. FEATURES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Diurnal Encodings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sin/cos time-of-day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Seasonal Encodings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sin/cos day-of-year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Thermal Gradient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Module - Ambient Temp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Leakage Shield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Exclude DC &amp; yields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463040"/>
            <a:ext cx="1645920" cy="438912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600200"/>
            <a:ext cx="1463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3. VALIDATION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Chronological Order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Strict timestamp sort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Train Set (60%)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May 15 - Jun 4 (45k)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Val Set (20%)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Jun 4 - Jun 11 (16k)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Out-of-Time Test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Jun 11 - Jun 17 (16k)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1463040"/>
            <a:ext cx="1645920" cy="438912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7064" y="1600200"/>
            <a:ext cx="1463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BBF24"/>
                </a:solidFill>
              </a:defRPr>
            </a:pPr>
            <a:r>
              <a:t>4. ML MODELING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Regression Target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AC_POWER_KW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Selected Pipeline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Random Forest (100t)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Occam's Razor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Baseline beats weather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Model Recompute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Test MAE = 70.4 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1463040"/>
            <a:ext cx="1645920" cy="438912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2" y="1600200"/>
            <a:ext cx="1463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5. DETECTION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Dual Baseline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Inverter ML + Peer Med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Capacity Normal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Scale by 99th pct capacity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Persistence Filter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&gt;= 3 intervals (&gt;= 45m)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Gap Reset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No cross-gap bridging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1463040"/>
            <a:ext cx="1645920" cy="438912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1600200"/>
            <a:ext cx="1463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6. LOSS INTELLIGENCE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Energy Integration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 = P_loss x 0.25h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Urgency Ranking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Sorted by lost kWh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Noise Filtered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47.6 kWh transient rej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Decision Support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6-View Streamlit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989320"/>
            <a:ext cx="10652760" cy="640080"/>
          </a:xfrm>
          <a:prstGeom prst="roundRect">
            <a:avLst/>
          </a:prstGeom>
          <a:solidFill>
            <a:srgbClr val="1A26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10287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DEDICATED RESIDENTIAL VALIDATION TRACK (PHASE II): </a:t>
            </a:r>
            <a:r>
              <a:rPr sz="1050">
                <a:solidFill>
                  <a:srgbClr val="F8FAFC"/>
                </a:solidFill>
              </a:rPr>
              <a:t>Real Havells 5.0 kW single-phase export (997 records, 7 days) evaluated in parallel with PII stripping, standby gap analysis, and 3-way energy reconciliation. Never merged into utility training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DATA ENGINEERING &amp; PHYSICAL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Verified Empirical Schemas &amp; Leakage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64992" cy="49377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992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1,000x UNIT RESOLUTION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The raw Kaggle dataset labeled AC_POWER as kW, but empirical values peaked at 1,410.95 (Plant 1) and 1,385.42 (Plant 2).</a:t>
            </a:r>
          </a:p>
          <a:p>
            <a:br/>
            <a:pPr>
              <a:defRPr sz="1100" b="1">
                <a:solidFill>
                  <a:srgbClr val="F8FAFC"/>
                </a:solidFill>
              </a:defRPr>
            </a:pPr>
            <a:r>
              <a:t>Published Ground Truth: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 peer-reviewed benchmark (Clean Energy, Oxford Academic, 2026) verified these exact plants in Karnataka:</a:t>
            </a:r>
          </a:p>
          <a:p>
            <a:pPr>
              <a:defRPr sz="1050">
                <a:solidFill>
                  <a:srgbClr val="38BDF8"/>
                </a:solidFill>
              </a:defRPr>
            </a:pPr>
            <a:r>
              <a:t>• 22 Growatt MIC 1500TL-X inverters</a:t>
            </a:r>
            <a:br/>
            <a:r>
              <a:t>• Rated capacity: 1.5 kW AC each</a:t>
            </a:r>
            <a:br/>
            <a:r>
              <a:t>• Total array capacity: 33.0 kW AC</a:t>
            </a:r>
            <a:br/>
            <a:r>
              <a:t>• Empirical peak sum: 29.15 kW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Canonical Unit Scaling: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Raw values are Watts (W), NOT kW! Established AC_POWER_KW = AC_POWER / 1000.0 across all pipelines, preventing a 1,000x distortion in loss calculations.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364992" cy="49377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54480"/>
            <a:ext cx="29992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EMPIRICAL DATASET VOLUMES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Commercial Utility Fleet (Kaggle):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Plant 1 Gen: 68,778 rows (22 inverters)</a:t>
            </a:r>
            <a:br/>
            <a:r>
              <a:t>• Plant 1 Weather: 3,182 rows (1 sensor)</a:t>
            </a:r>
            <a:br/>
            <a:r>
              <a:t>• Plant 2 Gen: 67,698 rows (22 inverters)</a:t>
            </a:r>
            <a:br/>
            <a:r>
              <a:t>• Plant 2 Weather: 3,259 rows (1 sensor)</a:t>
            </a:r>
            <a:br/>
            <a:r>
              <a:t>• Joined Daylight Rows: 77,098</a:t>
            </a:r>
            <a:br/>
            <a:r>
              <a:t>• Interval: 15-min (May 15 - Jun 17, 2020)</a:t>
            </a:r>
          </a:p>
          <a:p>
            <a:br/>
            <a:pPr>
              <a:defRPr sz="1100" b="1">
                <a:solidFill>
                  <a:srgbClr val="F8FAFC"/>
                </a:solidFill>
              </a:defRPr>
            </a:pPr>
            <a:r>
              <a:t>Residential Export (Havells 5.0 kW):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Telemetry Records: 997 synchronous rows</a:t>
            </a:r>
            <a:br/>
            <a:r>
              <a:t>• Telemetry Channels: 63 columns</a:t>
            </a:r>
            <a:br/>
            <a:r>
              <a:t>• Cadence: 5.0-minute (Oct 20-26, 2026)</a:t>
            </a:r>
            <a:br/>
            <a:r>
              <a:t>• Data Quality: 0 nulls, 0 duplicate timestamps</a:t>
            </a:r>
            <a:br/>
            <a:r>
              <a:t>• Standby Cycles: 6 overnight gaps (~12h)</a:t>
            </a:r>
            <a:br/>
            <a:r>
              <a:t>• Daytime Communications: 0 dropouts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364992" cy="49377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554480"/>
            <a:ext cx="29992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STRICT LEAKAGE SAFEGUARDS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Target Leakage Elimination: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DC_POWER, DAILY_YIELD, and TOTAL_YIELD were strictly excluded from model features. Including them produces a trivial R2 &gt; 0.999 that cannot detect when AC power drops relative to weather.</a:t>
            </a:r>
          </a:p>
          <a:p>
            <a:br/>
            <a:pPr>
              <a:defRPr sz="1100" b="1">
                <a:solidFill>
                  <a:srgbClr val="F8FAFC"/>
                </a:solidFill>
              </a:defRPr>
            </a:pPr>
            <a:r>
              <a:t>Temporal Transformation Boundaries: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All scalers, encoders, and threshold quantiles are fitted strictly on training data slices. Never fit or transform across split boundaries.</a:t>
            </a:r>
          </a:p>
          <a:p>
            <a:br/>
            <a:pPr>
              <a:defRPr sz="1100" b="1">
                <a:solidFill>
                  <a:srgbClr val="F8FAFC"/>
                </a:solidFill>
              </a:defRPr>
            </a:pPr>
            <a:r>
              <a:t>Cyclical Solar Time Encodings: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Derived sin/cos time-of-day and day-of-year features to capture smooth diurnal solar curves without discontinuous step boundaries.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AIML METHODOLOGY &amp;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Chronological Out-of-Time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389120" cy="49377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REGRESSION TASK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Predict expected continuous active power P_expected (kW) conditioned on 10 exogenous meteorological and cyclical time features: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10 Leakage-Free Input Features: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1. IRRADIATION (pyranometer kW/m2)</a:t>
            </a:r>
            <a:br/>
            <a:r>
              <a:t>2. AMBIENT_TEMPERATURE (°C)</a:t>
            </a:r>
            <a:br/>
            <a:r>
              <a:t>3. MODULE_TEMPERATURE (°C)</a:t>
            </a:r>
            <a:br/>
            <a:r>
              <a:t>4. TEMP_DIFF (Module - Ambient °C)</a:t>
            </a:r>
            <a:br/>
            <a:r>
              <a:t>5. sin_time_of_day (diurnal cycle)</a:t>
            </a:r>
            <a:br/>
            <a:r>
              <a:t>6. cos_time_of_day (diurnal cycle)</a:t>
            </a:r>
            <a:br/>
            <a:r>
              <a:t>7. sin_day_of_year (seasonal cycle)</a:t>
            </a:r>
            <a:br/>
            <a:r>
              <a:t>8. cos_day_of_year (seasonal cycle)</a:t>
            </a:r>
            <a:br/>
            <a:r>
              <a:t>9. PLANT_ID (facility embedding)</a:t>
            </a:r>
            <a:br/>
            <a:r>
              <a:t>10. SOURCE_KEY (inverter identifier)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Strict Chronological Partitioning: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Train (60%): May 15 - Jun 4 (44,966 rows)</a:t>
            </a:r>
            <a:br/>
            <a:r>
              <a:t>• Val (20%): Jun 4 - Jun 11 (15,896 rows)</a:t>
            </a:r>
            <a:br/>
            <a:r>
              <a:t>• Test (20%): Jun 11 - Jun 17 (16,236 rows)</a:t>
            </a:r>
            <a:br/>
            <a:r>
              <a:t>Never shuffle time-series data!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371600"/>
            <a:ext cx="6035040" cy="49377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OUT-OF-TIME BENCHMARK (TEST WEEK: JUNE 11-17, 2020)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Evaluated on 16,236 unseen chronological daylight observations: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77840" y="2103120"/>
          <a:ext cx="5669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731520"/>
                <a:gridCol w="731520"/>
                <a:gridCol w="731520"/>
                <a:gridCol w="731520"/>
              </a:tblGrid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Model Pipeline</a:t>
                      </a:r>
                    </a:p>
                  </a:txBody>
                  <a:tcPr>
                    <a:solidFill>
                      <a:srgbClr val="1A26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Val MAE</a:t>
                      </a:r>
                    </a:p>
                  </a:txBody>
                  <a:tcPr>
                    <a:solidFill>
                      <a:srgbClr val="1A26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1A26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1A26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Test R²</a:t>
                      </a:r>
                    </a:p>
                  </a:txBody>
                  <a:tcPr>
                    <a:solidFill>
                      <a:srgbClr val="1A26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Test WAPE</a:t>
                      </a:r>
                    </a:p>
                  </a:txBody>
                  <a:tcPr>
                    <a:solidFill>
                      <a:srgbClr val="1A262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Baseline (RandomForest)*</a:t>
                      </a:r>
                    </a:p>
                  </a:txBody>
                  <a:tcPr>
                    <a:solidFill>
                      <a:srgbClr val="1A2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0.1055 kW</a:t>
                      </a:r>
                    </a:p>
                  </a:txBody>
                  <a:tcPr>
                    <a:solidFill>
                      <a:srgbClr val="1A2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0.0704 kW</a:t>
                      </a:r>
                    </a:p>
                  </a:txBody>
                  <a:tcPr>
                    <a:solidFill>
                      <a:srgbClr val="1A2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0.1704 kW</a:t>
                      </a:r>
                    </a:p>
                  </a:txBody>
                  <a:tcPr>
                    <a:solidFill>
                      <a:srgbClr val="1A2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0.7337</a:t>
                      </a:r>
                    </a:p>
                  </a:txBody>
                  <a:tcPr>
                    <a:solidFill>
                      <a:srgbClr val="1A2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16.46%</a:t>
                      </a:r>
                    </a:p>
                  </a:txBody>
                  <a:tcPr>
                    <a:solidFill>
                      <a:srgbClr val="1A2C28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Enriched (RandomForest)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0.1076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0.0708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0.1660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0.7473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16.56%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Baseline (HistGBR)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0.1073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0.0699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0.1646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0.7515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16.35%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Enriched (HistGBR)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0.1105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0.0735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0.1634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0.7550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17.19%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Baseline (Ridge)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0.1257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0.1120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0.1814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0.6982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26.18%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Enriched (Ridge)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0.1287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0.1158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0.1817 kW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0.6972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27.08%</a:t>
                      </a:r>
                    </a:p>
                  </a:txBody>
                  <a:tcPr>
                    <a:solidFill>
                      <a:srgbClr val="141E2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577840" y="466344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*Selection Rationale (Baseline RandomForest Retained):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1. Lowest Validation Error (0.1055 kW MAE): Model selection strictly followed validation ranking without looking at test labels.</a:t>
            </a:r>
            <a:br/>
            <a:r>
              <a:t>2. Recomputed Test MAE of 70.4 W is just 4.7% of inverter nameplate capacity.</a:t>
            </a:r>
            <a:br/>
            <a:r>
              <a:t>3. R² of 0.7337 reflects strong predictive fidelity under highly dynamic solar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EXPERIMENTAL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Regional Weather Reanalysis Paradox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WEATHER ENRICHMENT EXPERIMENT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We evaluated whether enriching onsite telemetry with regional ERA5 reanalysis weather from Open-Meteo (temperature, humidity, cloud cover, wind speed) improves power prediction.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Empirical Result: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Adding regional weather slightly DEGRADED validation error (+1.99% MAE, from 0.1055 to 0.1076 kW). It did NOT improve accuracy.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Physical &amp; Scientific Explanation: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1. Spatial Resolution Disparity:</a:t>
            </a:r>
            <a:br/>
            <a:r>
              <a:t>ERA5 reanalysis operates on a 0.1° (~11 km) spatial grid. It cannot resolve localized cloud shadows passing over individual solar arrays.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2. Pyranometer Superiority:</a:t>
            </a:r>
            <a:br/>
            <a:r>
              <a:t>Onsite pyranometers and module thermocouples capture direct solar physics and cell temperature at the exact array location with zero spatial lag.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3. Occam's Razor Selection:</a:t>
            </a:r>
            <a:br/>
            <a:r>
              <a:t>The simpler 10-feature baseline was retained: lower error, lower complexity, and zero external API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HONEST METRIC INTERPRETATION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Recomputed Metrics from Saved Artifact (models/best_solar_model.joblib):</a:t>
            </a:r>
          </a:p>
          <a:p>
            <a:br/>
            <a:pPr>
              <a:defRPr sz="1100" b="1">
                <a:solidFill>
                  <a:srgbClr val="38BDF8"/>
                </a:solidFill>
              </a:defRPr>
            </a:pPr>
            <a:r>
              <a:t>• MAE = 0.0704 kW (70.4 W)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Mean Absolute Error: Average prediction uncertainty is just 70.4 Watts across 1,500 Watt inverters (4.7% of capacity).</a:t>
            </a:r>
          </a:p>
          <a:p>
            <a:br/>
            <a:pPr>
              <a:defRPr sz="1100" b="1">
                <a:solidFill>
                  <a:srgbClr val="38BDF8"/>
                </a:solidFill>
              </a:defRPr>
            </a:pPr>
            <a:r>
              <a:t>• RMSE = 0.1704 kW (170.4 W)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Root Mean Squared Error: Penalizes larger deviations during steep morning irradiance ramps.</a:t>
            </a:r>
          </a:p>
          <a:p>
            <a:br/>
            <a:pPr>
              <a:defRPr sz="1100" b="1">
                <a:solidFill>
                  <a:srgbClr val="38BDF8"/>
                </a:solidFill>
              </a:defRPr>
            </a:pPr>
            <a:r>
              <a:t>• R² = 0.7337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Coefficient of Determination: Explains 73.4% of power variance out-of-time. We NEVER call R² 'accuracy'.</a:t>
            </a:r>
          </a:p>
          <a:p>
            <a:br/>
            <a:pPr>
              <a:defRPr sz="1100" b="1">
                <a:solidFill>
                  <a:srgbClr val="38BDF8"/>
                </a:solidFill>
              </a:defRPr>
            </a:pPr>
            <a:r>
              <a:t>• WAPE = 16.46%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Weighted Absolute Percentage Error: Scale-independent percentage error across the entire daylight fleet.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Zero Data Leakage Assertion: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Verified: No DC_POWER, DAILY_YIELD, or future timestamps were accessible to the model. Out-of-time evaluation guarantees defensibility.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UNDERPERFORMANCE &amp; LOSS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Dual Baseline, Persistence Filtering &amp; Energy Accounting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DUAL-BASELINE DETECTION LOGIC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1. Inverter ML Baseline: Residual = P_expected - P_actual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Catches sudden drops relative to weather. Positive residual = deficit.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2. Peer-Cohort Baseline: P_cohort = Median({P_j / C_j}) x C_i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Normalized by capacity C_i. Prevents the ML model from normalizing chronic underperformance as expected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237744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PERSISTENCE FILTER &amp; THRESHOLD CALIBRATION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&gt;= 3 Consecutive Intervals (&gt;= 45 Minutes):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Anomalies must persist across at least 3 intervals to trigger alerts. Missing timestamps immediately reset the counter.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Outage-Filtered Threshold Recalibration: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Plant 2 high-sun threshold recalibrated to 0.0846 kW on operating inverters, preventing outages from masking subtle derates.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2468880" cy="21945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60519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1,736.3 kWh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Measured Generation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Actual energy generated by 44 inverters during out-of-time test week.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3977639"/>
            <a:ext cx="2468880" cy="21945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4160519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1,724.5 kWh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Expected Generation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Baseline generation predicted by 10-feature Random Forest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977639"/>
            <a:ext cx="2468880" cy="21945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4160519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89.44 kWh (5.2%)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Persistent Shortfall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Actionable energy loss lasting &gt;= 45m requiring maintenance dispatch.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3977639"/>
            <a:ext cx="2468880" cy="21945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6" y="4160519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47.58 kWh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Transient Noise Filtered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Passing cloud noise safely suppressed by persistence filter (34.7% of raw dev).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WORKING PROTOTYPE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Interactive Streamlit Operations Dashboard (6 Views)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4028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484632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Overview &amp; Operational Loss Summary</a:t>
            </a:r>
          </a:p>
        </p:txBody>
      </p:sp>
      <p:pic>
        <p:nvPicPr>
          <p:cNvPr id="7" name="Picture 6" descr="audit_view_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55648"/>
            <a:ext cx="4846320" cy="17647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371600"/>
            <a:ext cx="5120640" cy="224028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44752"/>
            <a:ext cx="484632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Plant &amp; Inverter Telemetry Explorer</a:t>
            </a:r>
          </a:p>
        </p:txBody>
      </p:sp>
      <p:pic>
        <p:nvPicPr>
          <p:cNvPr id="10" name="Picture 9" descr="audit_view_3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55648"/>
            <a:ext cx="4846320" cy="17647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3886200"/>
            <a:ext cx="5120640" cy="224028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59352"/>
            <a:ext cx="484632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Inverter Loss Prioritization Ranking</a:t>
            </a:r>
          </a:p>
        </p:txBody>
      </p:sp>
      <p:pic>
        <p:nvPicPr>
          <p:cNvPr id="13" name="Picture 12" descr="audit_view_4_prioritiz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70248"/>
            <a:ext cx="4846320" cy="17647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17920" y="3886200"/>
            <a:ext cx="5120640" cy="224028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84632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Interactive Synthetic Detection Sandbox</a:t>
            </a:r>
          </a:p>
        </p:txBody>
      </p:sp>
      <p:pic>
        <p:nvPicPr>
          <p:cNvPr id="16" name="Picture 15" descr="audit_view_5_synthet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270248"/>
            <a:ext cx="4846320" cy="1764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PHASE II RESIDENTIAL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Real Havells 5.0 kW Single-Phase Inverter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EMPIRICAL RESIDENTIAL TELEMETRY AUDIT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Inverter: Havells 5.0 kW single-phase grid-tied string inverter</a:t>
            </a:r>
            <a:br/>
            <a:r>
              <a:t>• Telemetry Volume: 997 synchronous readings (Oct 20-26, 2026)</a:t>
            </a:r>
            <a:br/>
            <a:r>
              <a:t>• Sampling Cadence: Nominal 5.0-minute (0 nulls, 0 duplicates)</a:t>
            </a:r>
            <a:br/>
            <a:r>
              <a:t>• Observed Peak: 3.58 kW (71.6% of rated 5.0 kW capacity)</a:t>
            </a:r>
            <a:br/>
            <a:r>
              <a:t>• Standby Detection: 6 nocturnal sleep gaps (~12h); 0 daytime dropouts</a:t>
            </a:r>
            <a:br/>
            <a:r>
              <a:t>• Privacy Protection: Serial numbers and account IDs scrubbed dynamically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THREE-WAY ENERGY RECONCILIATION: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1. Cumulative Odometer Delta: 7,992.0 - 7,857.1 = 134.90 kWh</a:t>
            </a:r>
            <a:br/>
            <a:r>
              <a:t>2. Daily Reset Counter Sum: Sum(Daily Yield) = 134.94 kWh</a:t>
            </a:r>
            <a:br/>
            <a:r>
              <a:t>3. Discrete Trapezoidal Integral: Sum(P x dt) = 135.90 kWh (+0.7%)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Operating State Distribution: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Grid Connected (96.8%, 965), Waiting (2.3%, 23 at dawn/dusk), Recoverable Fault (0.7%, 7 grid excursions), Checking (0.2%, 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udit_view_2_phase_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754880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HONEST FORECAST READINESS SCORECARD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Telemetry Pipeline: READY (Verified 7-day ingestion &amp; sanitization)</a:t>
            </a:r>
            <a:br/>
            <a:r>
              <a:t>• External Weather: PENDING ALIGNMENT (Requires verified rooftop GPS)</a:t>
            </a:r>
            <a:br/>
            <a:r>
              <a:t>• Live Inverter API: PENDING AUTHORIZATION (Modbus TCP/Cloud webhook)</a:t>
            </a:r>
            <a:br/>
            <a:r>
              <a:t>• Validated Day-Ahead Model: PHASE III ROADMAP</a:t>
            </a:r>
          </a:p>
          <a:p>
            <a:br/>
            <a:pPr>
              <a:defRPr sz="950">
                <a:solidFill>
                  <a:srgbClr val="F59E0B"/>
                </a:solidFill>
              </a:defRPr>
            </a:pPr>
            <a:r>
              <a:t>Defense Boundary: A 7-day export is valuable for baseline profiling, but CANNOT train a multi-season day-ahead forecast without extreme seasonal overfitting. We present no fabricated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SUMMARY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Conclusions &amp; Viva Defense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64992" cy="49377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992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KEY ACCOMPLISHMENTS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1. Solved 1,000x Unit Error: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Reconciled Kaggle SCADA against Oxford academic literature (1.5 kW MIC 1500TL-X inverters).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2. Leakage-Free ML Modeling: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10-feature Random Forest baseline achieves Test MAE = 70.4 W, R2 = 0.7337 on strictly chronological splits.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3. Actionable Loss Quantification: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Suppressed 47.6 kWh of transient cloud noise while isolating 89.4 kWh of persistent actionable shortfall.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4. Robust Working Platform: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6-view Apple-inspired dashboard backed by 46 passing automated tests (0 warnings).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364992" cy="49377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54480"/>
            <a:ext cx="29992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EXPLICIT LIMITATIONS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1. Short Observation Horizon: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Utility dataset spans 34 days (early summer); residential spans 7 days. Annualizing losses or claiming monsoon invariance is invalid.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2. Candidate vs Confirmed Faults: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Without physical maintenance work orders, detections are candidate underperformance intervals, not verified component failures.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3. Reanalysis Weather Limits: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Regional reanalysis (~11 km) cannot match the microclimate fidelity of onsite pyranometers.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364992" cy="4937760"/>
          </a:xfrm>
          <a:prstGeom prst="roundRect">
            <a:avLst/>
          </a:prstGeom>
          <a:solidFill>
            <a:srgbClr val="141E24"/>
          </a:solidFill>
          <a:ln w="12700">
            <a:solidFill>
              <a:srgbClr val="23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554480"/>
            <a:ext cx="29992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PHASE III ROADMAP &amp; VIVA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Planned Phase III Work: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Weather-Informed Day-Ahead Forecasts: High-resolution GHI forecasts coupled to trained regression models.</a:t>
            </a:r>
            <a:br/>
            <a:r>
              <a:t>• Authorized Live Inverter Feeds: Modbus TCP gateway and cloud OAuth webhooks for real-time telemetry.</a:t>
            </a:r>
          </a:p>
          <a:p>
            <a:br/>
            <a:pPr>
              <a:defRPr sz="1100" b="1">
                <a:solidFill>
                  <a:srgbClr val="FBBF24"/>
                </a:solidFill>
              </a:defRPr>
            </a:pPr>
            <a:r>
              <a:t>Evaluation Readiness: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46 Automated Tests Passing (100%)</a:t>
            </a:r>
            <a:br/>
            <a:r>
              <a:t>• Recomputed &amp; Verified Artifacts</a:t>
            </a:r>
            <a:br/>
            <a:r>
              <a:t>• Interactive 6-View Streamlit App</a:t>
            </a:r>
            <a:br/>
            <a:r>
              <a:t>• Open for Questions &amp; Demonstration</a:t>
            </a:r>
          </a:p>
          <a:p>
            <a:br/>
            <a:pPr>
              <a:defRPr sz="1200" b="1">
                <a:solidFill>
                  <a:srgbClr val="38BDF8"/>
                </a:solidFill>
              </a:defRPr>
            </a:pPr>
            <a:r>
              <a:t>Thank you.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